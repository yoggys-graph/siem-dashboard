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9144000" cy="5143500"/>
  <p:notesSz cx="9144000" cy="5143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17752" y="1279540"/>
            <a:ext cx="3345815" cy="13652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0" i="0">
                <a:solidFill>
                  <a:schemeClr val="bg1"/>
                </a:solidFill>
                <a:latin typeface="Montserrat ExtraBold"/>
                <a:cs typeface="Montserrat ExtraBold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17752" y="2611516"/>
            <a:ext cx="3306445" cy="8274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0" i="0">
                <a:solidFill>
                  <a:schemeClr val="bg1"/>
                </a:solidFill>
                <a:latin typeface="Montserrat ExtraBold"/>
                <a:cs typeface="Montserrat ExtraBold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0" i="0">
                <a:solidFill>
                  <a:schemeClr val="bg1"/>
                </a:solidFill>
                <a:latin typeface="Montserrat ExtraBold"/>
                <a:cs typeface="Montserrat ExtraBold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0" i="0">
                <a:solidFill>
                  <a:schemeClr val="bg1"/>
                </a:solidFill>
                <a:latin typeface="Montserrat ExtraBold"/>
                <a:cs typeface="Montserrat ExtraBold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487806"/>
            <a:ext cx="9144000" cy="4655820"/>
          </a:xfrm>
          <a:custGeom>
            <a:avLst/>
            <a:gdLst/>
            <a:ahLst/>
            <a:cxnLst/>
            <a:rect l="l" t="t" r="r" b="b"/>
            <a:pathLst>
              <a:path w="9144000" h="4655820">
                <a:moveTo>
                  <a:pt x="0" y="4655693"/>
                </a:moveTo>
                <a:lnTo>
                  <a:pt x="9144000" y="4655693"/>
                </a:lnTo>
                <a:lnTo>
                  <a:pt x="9144000" y="0"/>
                </a:lnTo>
                <a:lnTo>
                  <a:pt x="0" y="0"/>
                </a:lnTo>
                <a:lnTo>
                  <a:pt x="0" y="465569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0"/>
            <a:ext cx="9144000" cy="488315"/>
          </a:xfrm>
          <a:custGeom>
            <a:avLst/>
            <a:gdLst/>
            <a:ahLst/>
            <a:cxnLst/>
            <a:rect l="l" t="t" r="r" b="b"/>
            <a:pathLst>
              <a:path w="9144000" h="488315">
                <a:moveTo>
                  <a:pt x="9144000" y="0"/>
                </a:moveTo>
                <a:lnTo>
                  <a:pt x="0" y="0"/>
                </a:lnTo>
                <a:lnTo>
                  <a:pt x="0" y="487807"/>
                </a:lnTo>
                <a:lnTo>
                  <a:pt x="9144000" y="487807"/>
                </a:lnTo>
                <a:lnTo>
                  <a:pt x="9144000" y="0"/>
                </a:lnTo>
                <a:close/>
              </a:path>
            </a:pathLst>
          </a:custGeom>
          <a:solidFill>
            <a:srgbClr val="FFD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1203325" y="1191260"/>
            <a:ext cx="373380" cy="46355"/>
          </a:xfrm>
          <a:custGeom>
            <a:avLst/>
            <a:gdLst/>
            <a:ahLst/>
            <a:cxnLst/>
            <a:rect l="l" t="t" r="r" b="b"/>
            <a:pathLst>
              <a:path w="373380" h="46355">
                <a:moveTo>
                  <a:pt x="372872" y="0"/>
                </a:moveTo>
                <a:lnTo>
                  <a:pt x="0" y="0"/>
                </a:lnTo>
                <a:lnTo>
                  <a:pt x="0" y="45847"/>
                </a:lnTo>
                <a:lnTo>
                  <a:pt x="372872" y="45847"/>
                </a:lnTo>
                <a:lnTo>
                  <a:pt x="372872" y="0"/>
                </a:lnTo>
                <a:close/>
              </a:path>
            </a:pathLst>
          </a:custGeom>
          <a:solidFill>
            <a:srgbClr val="EB5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830452" y="1191260"/>
            <a:ext cx="375920" cy="46355"/>
          </a:xfrm>
          <a:custGeom>
            <a:avLst/>
            <a:gdLst/>
            <a:ahLst/>
            <a:cxnLst/>
            <a:rect l="l" t="t" r="r" b="b"/>
            <a:pathLst>
              <a:path w="375919" h="46355">
                <a:moveTo>
                  <a:pt x="375920" y="0"/>
                </a:moveTo>
                <a:lnTo>
                  <a:pt x="0" y="0"/>
                </a:lnTo>
                <a:lnTo>
                  <a:pt x="0" y="45847"/>
                </a:lnTo>
                <a:lnTo>
                  <a:pt x="375920" y="45847"/>
                </a:lnTo>
                <a:lnTo>
                  <a:pt x="37592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17752" y="1279540"/>
            <a:ext cx="3023870" cy="9188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0" i="0">
                <a:solidFill>
                  <a:schemeClr val="bg1"/>
                </a:solidFill>
                <a:latin typeface="Montserrat ExtraBold"/>
                <a:cs typeface="Montserrat ExtraBold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183005"/>
            <a:ext cx="822960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/>
          <p:nvPr/>
        </p:nvSpPr>
        <p:spPr>
          <a:xfrm>
            <a:off x="817752" y="1279540"/>
            <a:ext cx="3345815" cy="13652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1000"/>
              </a:lnSpc>
              <a:spcBef>
                <a:spcPts val="95"/>
              </a:spcBef>
            </a:pPr>
            <a:r>
              <a:rPr dirty="0" sz="2900" spc="-10">
                <a:solidFill>
                  <a:srgbClr val="FFFFFF"/>
                </a:solidFill>
                <a:latin typeface="Montserrat ExtraBold"/>
                <a:cs typeface="Montserrat ExtraBold"/>
              </a:rPr>
              <a:t>Familiarize </a:t>
            </a:r>
            <a:r>
              <a:rPr dirty="0" sz="2900">
                <a:solidFill>
                  <a:srgbClr val="FFFFFF"/>
                </a:solidFill>
                <a:latin typeface="Montserrat ExtraBold"/>
                <a:cs typeface="Montserrat ExtraBold"/>
              </a:rPr>
              <a:t>yourself</a:t>
            </a:r>
            <a:r>
              <a:rPr dirty="0" sz="2900" spc="-45">
                <a:solidFill>
                  <a:srgbClr val="FFFFFF"/>
                </a:solidFill>
                <a:latin typeface="Montserrat ExtraBold"/>
                <a:cs typeface="Montserrat ExtraBold"/>
              </a:rPr>
              <a:t> </a:t>
            </a:r>
            <a:r>
              <a:rPr dirty="0" sz="2900" spc="-20">
                <a:solidFill>
                  <a:srgbClr val="FFFFFF"/>
                </a:solidFill>
                <a:latin typeface="Montserrat ExtraBold"/>
                <a:cs typeface="Montserrat ExtraBold"/>
              </a:rPr>
              <a:t>with </a:t>
            </a:r>
            <a:r>
              <a:rPr dirty="0" sz="2900">
                <a:solidFill>
                  <a:srgbClr val="FFFFFF"/>
                </a:solidFill>
                <a:latin typeface="Montserrat ExtraBold"/>
                <a:cs typeface="Montserrat ExtraBold"/>
              </a:rPr>
              <a:t>phishing</a:t>
            </a:r>
            <a:r>
              <a:rPr dirty="0" sz="2900" spc="135">
                <a:solidFill>
                  <a:srgbClr val="FFFFFF"/>
                </a:solidFill>
                <a:latin typeface="Montserrat ExtraBold"/>
                <a:cs typeface="Montserrat ExtraBold"/>
              </a:rPr>
              <a:t> </a:t>
            </a:r>
            <a:r>
              <a:rPr dirty="0" sz="2900" spc="-10">
                <a:solidFill>
                  <a:srgbClr val="FFFFFF"/>
                </a:solidFill>
                <a:latin typeface="Montserrat ExtraBold"/>
                <a:cs typeface="Montserrat ExtraBold"/>
              </a:rPr>
              <a:t>attacks</a:t>
            </a:r>
            <a:endParaRPr sz="2900">
              <a:latin typeface="Montserrat ExtraBold"/>
              <a:cs typeface="Montserrat ExtraBol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17752" y="2611516"/>
            <a:ext cx="3306445" cy="82740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600">
                <a:solidFill>
                  <a:srgbClr val="FFFFFF"/>
                </a:solidFill>
                <a:latin typeface="Montserrat ExtraBold"/>
                <a:cs typeface="Montserrat ExtraBold"/>
              </a:rPr>
              <a:t>&lt;</a:t>
            </a:r>
            <a:r>
              <a:rPr dirty="0" sz="2600">
                <a:solidFill>
                  <a:srgbClr val="FFD000"/>
                </a:solidFill>
                <a:latin typeface="Montserrat ExtraBold"/>
                <a:cs typeface="Montserrat ExtraBold"/>
              </a:rPr>
              <a:t>HR</a:t>
            </a:r>
            <a:r>
              <a:rPr dirty="0" sz="2600" spc="45">
                <a:solidFill>
                  <a:srgbClr val="FFD000"/>
                </a:solidFill>
                <a:latin typeface="Montserrat ExtraBold"/>
                <a:cs typeface="Montserrat ExtraBold"/>
              </a:rPr>
              <a:t> </a:t>
            </a:r>
            <a:r>
              <a:rPr dirty="0" sz="2600" spc="-50">
                <a:solidFill>
                  <a:srgbClr val="FFD000"/>
                </a:solidFill>
                <a:latin typeface="Montserrat ExtraBold"/>
                <a:cs typeface="Montserrat ExtraBold"/>
              </a:rPr>
              <a:t>&amp;</a:t>
            </a:r>
            <a:endParaRPr sz="2600">
              <a:latin typeface="Montserrat ExtraBold"/>
              <a:cs typeface="Montserrat ExtraBold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2600">
                <a:solidFill>
                  <a:srgbClr val="FFD000"/>
                </a:solidFill>
                <a:latin typeface="Montserrat ExtraBold"/>
                <a:cs typeface="Montserrat ExtraBold"/>
              </a:rPr>
              <a:t>Marketing</a:t>
            </a:r>
            <a:r>
              <a:rPr dirty="0" sz="2600" spc="55">
                <a:solidFill>
                  <a:srgbClr val="FFD000"/>
                </a:solidFill>
                <a:latin typeface="Montserrat ExtraBold"/>
                <a:cs typeface="Montserrat ExtraBold"/>
              </a:rPr>
              <a:t> </a:t>
            </a:r>
            <a:r>
              <a:rPr dirty="0" sz="2600" spc="-10">
                <a:solidFill>
                  <a:srgbClr val="FFD000"/>
                </a:solidFill>
                <a:latin typeface="Montserrat ExtraBold"/>
                <a:cs typeface="Montserrat ExtraBold"/>
              </a:rPr>
              <a:t>Teams</a:t>
            </a:r>
            <a:r>
              <a:rPr dirty="0" sz="2600" spc="-10">
                <a:solidFill>
                  <a:srgbClr val="FFFFFF"/>
                </a:solidFill>
                <a:latin typeface="Montserrat ExtraBold"/>
                <a:cs typeface="Montserrat ExtraBold"/>
              </a:rPr>
              <a:t>&gt;</a:t>
            </a:r>
            <a:endParaRPr sz="2600">
              <a:latin typeface="Montserrat ExtraBold"/>
              <a:cs typeface="Montserrat ExtraBold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0" y="487807"/>
            <a:ext cx="4572000" cy="465569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32820" y="0"/>
            <a:ext cx="4641951" cy="257175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817752" y="3687093"/>
            <a:ext cx="30143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990600" algn="l"/>
                <a:tab pos="2045970" algn="l"/>
                <a:tab pos="2718435" algn="l"/>
              </a:tabLst>
            </a:pPr>
            <a:r>
              <a:rPr dirty="0" sz="1200" spc="-10">
                <a:solidFill>
                  <a:srgbClr val="FFFFFF"/>
                </a:solidFill>
                <a:latin typeface="Montserrat Medium"/>
                <a:cs typeface="Montserrat Medium"/>
              </a:rPr>
              <a:t>Imagine</a:t>
            </a:r>
            <a:r>
              <a:rPr dirty="0" sz="1200">
                <a:solidFill>
                  <a:srgbClr val="FFFFFF"/>
                </a:solidFill>
                <a:latin typeface="Montserrat Medium"/>
                <a:cs typeface="Montserrat Medium"/>
              </a:rPr>
              <a:t>	</a:t>
            </a:r>
            <a:r>
              <a:rPr dirty="0" sz="1200" spc="-10">
                <a:solidFill>
                  <a:srgbClr val="FFFFFF"/>
                </a:solidFill>
                <a:latin typeface="Montserrat Medium"/>
                <a:cs typeface="Montserrat Medium"/>
              </a:rPr>
              <a:t>someone</a:t>
            </a:r>
            <a:r>
              <a:rPr dirty="0" sz="1200">
                <a:solidFill>
                  <a:srgbClr val="FFFFFF"/>
                </a:solidFill>
                <a:latin typeface="Montserrat Medium"/>
                <a:cs typeface="Montserrat Medium"/>
              </a:rPr>
              <a:t>	</a:t>
            </a:r>
            <a:r>
              <a:rPr dirty="0" sz="1200" spc="-10">
                <a:solidFill>
                  <a:srgbClr val="FFFFFF"/>
                </a:solidFill>
                <a:latin typeface="Montserrat Medium"/>
                <a:cs typeface="Montserrat Medium"/>
              </a:rPr>
              <a:t>calls</a:t>
            </a:r>
            <a:r>
              <a:rPr dirty="0" sz="1200">
                <a:solidFill>
                  <a:srgbClr val="FFFFFF"/>
                </a:solidFill>
                <a:latin typeface="Montserrat Medium"/>
                <a:cs typeface="Montserrat Medium"/>
              </a:rPr>
              <a:t>	</a:t>
            </a:r>
            <a:r>
              <a:rPr dirty="0" sz="1200" spc="-30">
                <a:solidFill>
                  <a:srgbClr val="FFFFFF"/>
                </a:solidFill>
                <a:latin typeface="Montserrat Medium"/>
                <a:cs typeface="Montserrat Medium"/>
              </a:rPr>
              <a:t>you </a:t>
            </a:r>
            <a:r>
              <a:rPr dirty="0" sz="1200">
                <a:solidFill>
                  <a:srgbClr val="FFFFFF"/>
                </a:solidFill>
                <a:latin typeface="Montserrat Medium"/>
                <a:cs typeface="Montserrat Medium"/>
              </a:rPr>
              <a:t>pretending</a:t>
            </a:r>
            <a:r>
              <a:rPr dirty="0" sz="1200" spc="-25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200">
                <a:solidFill>
                  <a:srgbClr val="FFFFFF"/>
                </a:solidFill>
                <a:latin typeface="Montserrat Medium"/>
                <a:cs typeface="Montserrat Medium"/>
              </a:rPr>
              <a:t>to</a:t>
            </a:r>
            <a:r>
              <a:rPr dirty="0" sz="1200" spc="-20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200">
                <a:solidFill>
                  <a:srgbClr val="FFFFFF"/>
                </a:solidFill>
                <a:latin typeface="Montserrat Medium"/>
                <a:cs typeface="Montserrat Medium"/>
              </a:rPr>
              <a:t>be</a:t>
            </a:r>
            <a:r>
              <a:rPr dirty="0" sz="1200" spc="-20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200">
                <a:solidFill>
                  <a:srgbClr val="FFFFFF"/>
                </a:solidFill>
                <a:latin typeface="Montserrat Medium"/>
                <a:cs typeface="Montserrat Medium"/>
              </a:rPr>
              <a:t>your</a:t>
            </a:r>
            <a:r>
              <a:rPr dirty="0" sz="1200" spc="-20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200">
                <a:solidFill>
                  <a:srgbClr val="FFFFFF"/>
                </a:solidFill>
                <a:latin typeface="Montserrat Medium"/>
                <a:cs typeface="Montserrat Medium"/>
              </a:rPr>
              <a:t>bank</a:t>
            </a:r>
            <a:r>
              <a:rPr dirty="0" sz="1200" spc="-25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200">
                <a:solidFill>
                  <a:srgbClr val="FFFFFF"/>
                </a:solidFill>
                <a:latin typeface="Montserrat Medium"/>
                <a:cs typeface="Montserrat Medium"/>
              </a:rPr>
              <a:t>and</a:t>
            </a:r>
            <a:r>
              <a:rPr dirty="0" sz="1200" spc="-20">
                <a:solidFill>
                  <a:srgbClr val="FFFFFF"/>
                </a:solidFill>
                <a:latin typeface="Montserrat Medium"/>
                <a:cs typeface="Montserrat Medium"/>
              </a:rPr>
              <a:t> says:</a:t>
            </a:r>
            <a:endParaRPr sz="1200">
              <a:latin typeface="Montserrat Medium"/>
              <a:cs typeface="Montserrat Medium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17752" y="4235733"/>
            <a:ext cx="30143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FFFF"/>
                </a:solidFill>
                <a:latin typeface="Montserrat Medium"/>
                <a:cs typeface="Montserrat Medium"/>
              </a:rPr>
              <a:t>“</a:t>
            </a:r>
            <a:r>
              <a:rPr dirty="0" sz="1200" i="1">
                <a:solidFill>
                  <a:srgbClr val="FFFFFF"/>
                </a:solidFill>
                <a:latin typeface="Montserrat Medium"/>
                <a:cs typeface="Montserrat Medium"/>
              </a:rPr>
              <a:t>Your</a:t>
            </a:r>
            <a:r>
              <a:rPr dirty="0" sz="1200" spc="165" i="1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200" i="1">
                <a:solidFill>
                  <a:srgbClr val="FFFFFF"/>
                </a:solidFill>
                <a:latin typeface="Montserrat Medium"/>
                <a:cs typeface="Montserrat Medium"/>
              </a:rPr>
              <a:t>account</a:t>
            </a:r>
            <a:r>
              <a:rPr dirty="0" sz="1200" spc="165" i="1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200" i="1">
                <a:solidFill>
                  <a:srgbClr val="FFFFFF"/>
                </a:solidFill>
                <a:latin typeface="Montserrat Medium"/>
                <a:cs typeface="Montserrat Medium"/>
              </a:rPr>
              <a:t>has</a:t>
            </a:r>
            <a:r>
              <a:rPr dirty="0" sz="1200" spc="165" i="1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200" i="1">
                <a:solidFill>
                  <a:srgbClr val="FFFFFF"/>
                </a:solidFill>
                <a:latin typeface="Montserrat Medium"/>
                <a:cs typeface="Montserrat Medium"/>
              </a:rPr>
              <a:t>a</a:t>
            </a:r>
            <a:r>
              <a:rPr dirty="0" sz="1200" spc="165" i="1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200" i="1">
                <a:solidFill>
                  <a:srgbClr val="FFFFFF"/>
                </a:solidFill>
                <a:latin typeface="Montserrat Medium"/>
                <a:cs typeface="Montserrat Medium"/>
              </a:rPr>
              <a:t>problem.</a:t>
            </a:r>
            <a:r>
              <a:rPr dirty="0" sz="1200" spc="165" i="1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200" spc="-10" i="1">
                <a:solidFill>
                  <a:srgbClr val="FFFFFF"/>
                </a:solidFill>
                <a:latin typeface="Montserrat Medium"/>
                <a:cs typeface="Montserrat Medium"/>
              </a:rPr>
              <a:t>Please </a:t>
            </a:r>
            <a:r>
              <a:rPr dirty="0" sz="1200" i="1">
                <a:solidFill>
                  <a:srgbClr val="FFFFFF"/>
                </a:solidFill>
                <a:latin typeface="Montserrat Medium"/>
                <a:cs typeface="Montserrat Medium"/>
              </a:rPr>
              <a:t>tell</a:t>
            </a:r>
            <a:r>
              <a:rPr dirty="0" sz="1200" spc="-45" i="1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200" i="1">
                <a:solidFill>
                  <a:srgbClr val="FFFFFF"/>
                </a:solidFill>
                <a:latin typeface="Montserrat Medium"/>
                <a:cs typeface="Montserrat Medium"/>
              </a:rPr>
              <a:t>me</a:t>
            </a:r>
            <a:r>
              <a:rPr dirty="0" sz="1200" spc="-20" i="1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200" i="1">
                <a:solidFill>
                  <a:srgbClr val="FFFFFF"/>
                </a:solidFill>
                <a:latin typeface="Montserrat Medium"/>
                <a:cs typeface="Montserrat Medium"/>
              </a:rPr>
              <a:t>your</a:t>
            </a:r>
            <a:r>
              <a:rPr dirty="0" sz="1200" spc="-20" i="1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200" i="1">
                <a:solidFill>
                  <a:srgbClr val="FFFFFF"/>
                </a:solidFill>
                <a:latin typeface="Montserrat Medium"/>
                <a:cs typeface="Montserrat Medium"/>
              </a:rPr>
              <a:t>PIN</a:t>
            </a:r>
            <a:r>
              <a:rPr dirty="0" sz="1200" spc="-20" i="1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200" i="1">
                <a:solidFill>
                  <a:srgbClr val="FFFFFF"/>
                </a:solidFill>
                <a:latin typeface="Montserrat Medium"/>
                <a:cs typeface="Montserrat Medium"/>
              </a:rPr>
              <a:t>to</a:t>
            </a:r>
            <a:r>
              <a:rPr dirty="0" sz="1200" spc="-20" i="1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200" spc="-125" i="1">
                <a:solidFill>
                  <a:srgbClr val="FFFFFF"/>
                </a:solidFill>
                <a:latin typeface="Montserrat Medium"/>
                <a:cs typeface="Montserrat Medium"/>
              </a:rPr>
              <a:t>fix</a:t>
            </a:r>
            <a:r>
              <a:rPr dirty="0" sz="1200" i="1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200" spc="-20" i="1">
                <a:solidFill>
                  <a:srgbClr val="FFFFFF"/>
                </a:solidFill>
                <a:latin typeface="Montserrat Medium"/>
                <a:cs typeface="Montserrat Medium"/>
              </a:rPr>
              <a:t>it.</a:t>
            </a:r>
            <a:r>
              <a:rPr dirty="0" sz="1200" spc="-20">
                <a:solidFill>
                  <a:srgbClr val="FFFFFF"/>
                </a:solidFill>
                <a:latin typeface="Montserrat Medium"/>
                <a:cs typeface="Montserrat Medium"/>
              </a:rPr>
              <a:t>”</a:t>
            </a:r>
            <a:endParaRPr sz="1200">
              <a:latin typeface="Montserrat Medium"/>
              <a:cs typeface="Montserrat Medium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59300" y="2619645"/>
            <a:ext cx="3862704" cy="2006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If</a:t>
            </a:r>
            <a:r>
              <a:rPr dirty="0" sz="1300" spc="105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you</a:t>
            </a:r>
            <a:r>
              <a:rPr dirty="0" sz="1300" spc="105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believe</a:t>
            </a:r>
            <a:r>
              <a:rPr dirty="0" sz="1300" spc="105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them</a:t>
            </a:r>
            <a:r>
              <a:rPr dirty="0" sz="1300" spc="100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and</a:t>
            </a:r>
            <a:r>
              <a:rPr dirty="0" sz="1300" spc="105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share</a:t>
            </a:r>
            <a:r>
              <a:rPr dirty="0" sz="1300" spc="105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your</a:t>
            </a:r>
            <a:r>
              <a:rPr dirty="0" sz="1300" spc="105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PIN,</a:t>
            </a:r>
            <a:r>
              <a:rPr dirty="0" sz="1300" spc="105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300" spc="-20">
                <a:solidFill>
                  <a:srgbClr val="FFFFFF"/>
                </a:solidFill>
                <a:latin typeface="Montserrat Medium"/>
                <a:cs typeface="Montserrat Medium"/>
              </a:rPr>
              <a:t>they 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can</a:t>
            </a:r>
            <a:r>
              <a:rPr dirty="0" sz="1300" spc="434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steal</a:t>
            </a:r>
            <a:r>
              <a:rPr dirty="0" sz="1300" spc="440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your</a:t>
            </a:r>
            <a:r>
              <a:rPr dirty="0" sz="1300" spc="440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money.</a:t>
            </a:r>
            <a:r>
              <a:rPr dirty="0" sz="1300" spc="440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That’s</a:t>
            </a:r>
            <a:r>
              <a:rPr dirty="0" sz="1300" spc="440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exactly</a:t>
            </a:r>
            <a:r>
              <a:rPr dirty="0" sz="1300" spc="440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300" spc="-20">
                <a:solidFill>
                  <a:srgbClr val="FFFFFF"/>
                </a:solidFill>
                <a:latin typeface="Montserrat Medium"/>
                <a:cs typeface="Montserrat Medium"/>
              </a:rPr>
              <a:t>what 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phishing</a:t>
            </a:r>
            <a:r>
              <a:rPr dirty="0" sz="1300" spc="229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is—but</a:t>
            </a:r>
            <a:r>
              <a:rPr dirty="0" sz="1300" spc="229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it</a:t>
            </a:r>
            <a:r>
              <a:rPr dirty="0" sz="1300" spc="235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usually</a:t>
            </a:r>
            <a:r>
              <a:rPr dirty="0" sz="1300" spc="229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happens</a:t>
            </a:r>
            <a:r>
              <a:rPr dirty="0" sz="1300" spc="229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Montserrat Medium"/>
                <a:cs typeface="Montserrat Medium"/>
              </a:rPr>
              <a:t>through 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emails,</a:t>
            </a:r>
            <a:r>
              <a:rPr dirty="0" sz="1300" spc="-45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text</a:t>
            </a:r>
            <a:r>
              <a:rPr dirty="0" sz="1300" spc="-40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messages,</a:t>
            </a:r>
            <a:r>
              <a:rPr dirty="0" sz="1300" spc="-45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or</a:t>
            </a:r>
            <a:r>
              <a:rPr dirty="0" sz="1300" spc="-40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fake</a:t>
            </a:r>
            <a:r>
              <a:rPr dirty="0" sz="1300" spc="-45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Montserrat Medium"/>
                <a:cs typeface="Montserrat Medium"/>
              </a:rPr>
              <a:t>websites.</a:t>
            </a:r>
            <a:endParaRPr sz="1300">
              <a:latin typeface="Montserrat Medium"/>
              <a:cs typeface="Montserrat Medium"/>
            </a:endParaRPr>
          </a:p>
          <a:p>
            <a:pPr marL="12700" marR="1136015">
              <a:lnSpc>
                <a:spcPct val="100000"/>
              </a:lnSpc>
              <a:spcBef>
                <a:spcPts val="1560"/>
              </a:spcBef>
            </a:pPr>
            <a:r>
              <a:rPr dirty="0" sz="1300" b="1">
                <a:solidFill>
                  <a:srgbClr val="FFFFFF"/>
                </a:solidFill>
                <a:latin typeface="Montserrat"/>
                <a:cs typeface="Montserrat"/>
              </a:rPr>
              <a:t>Why</a:t>
            </a:r>
            <a:r>
              <a:rPr dirty="0" sz="1300" spc="-25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1300" b="1">
                <a:solidFill>
                  <a:srgbClr val="FFFFFF"/>
                </a:solidFill>
                <a:latin typeface="Montserrat"/>
                <a:cs typeface="Montserrat"/>
              </a:rPr>
              <a:t>it’s</a:t>
            </a:r>
            <a:r>
              <a:rPr dirty="0" sz="1300" spc="-20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1300" b="1">
                <a:solidFill>
                  <a:srgbClr val="FFFFFF"/>
                </a:solidFill>
                <a:latin typeface="Montserrat"/>
                <a:cs typeface="Montserrat"/>
              </a:rPr>
              <a:t>called</a:t>
            </a:r>
            <a:r>
              <a:rPr dirty="0" sz="1300" spc="-20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1300" spc="-10" b="1">
                <a:solidFill>
                  <a:srgbClr val="FFFFFF"/>
                </a:solidFill>
                <a:latin typeface="Montserrat"/>
                <a:cs typeface="Montserrat"/>
              </a:rPr>
              <a:t>“Phishing” 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Scammers</a:t>
            </a:r>
            <a:r>
              <a:rPr dirty="0" sz="1300" spc="-35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are</a:t>
            </a:r>
            <a:r>
              <a:rPr dirty="0" sz="1300" spc="-30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like</a:t>
            </a:r>
            <a:r>
              <a:rPr dirty="0" sz="1300" spc="-35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Montserrat Medium"/>
                <a:cs typeface="Montserrat Medium"/>
              </a:rPr>
              <a:t>fishermen: 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They</a:t>
            </a:r>
            <a:r>
              <a:rPr dirty="0" sz="1300" spc="-45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throw</a:t>
            </a:r>
            <a:r>
              <a:rPr dirty="0" sz="1300" spc="-45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bait</a:t>
            </a:r>
            <a:r>
              <a:rPr dirty="0" sz="1300" spc="-45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(fake</a:t>
            </a:r>
            <a:r>
              <a:rPr dirty="0" sz="1300" spc="-45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Montserrat Medium"/>
                <a:cs typeface="Montserrat Medium"/>
              </a:rPr>
              <a:t>messages)</a:t>
            </a:r>
            <a:endParaRPr sz="1300">
              <a:latin typeface="Montserrat Medium"/>
              <a:cs typeface="Montserrat Medium"/>
            </a:endParaRPr>
          </a:p>
          <a:p>
            <a:pPr marL="12700" marR="295910">
              <a:lnSpc>
                <a:spcPct val="100000"/>
              </a:lnSpc>
            </a:pP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They</a:t>
            </a:r>
            <a:r>
              <a:rPr dirty="0" sz="1300" spc="-30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wait</a:t>
            </a:r>
            <a:r>
              <a:rPr dirty="0" sz="1300" spc="-25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for</a:t>
            </a:r>
            <a:r>
              <a:rPr dirty="0" sz="1300" spc="-30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someone</a:t>
            </a:r>
            <a:r>
              <a:rPr dirty="0" sz="1300" spc="-25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to</a:t>
            </a:r>
            <a:r>
              <a:rPr dirty="0" sz="1300" spc="-25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bite</a:t>
            </a:r>
            <a:r>
              <a:rPr dirty="0" sz="1300" spc="-30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(trust</a:t>
            </a:r>
            <a:r>
              <a:rPr dirty="0" sz="1300" spc="-25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Montserrat Medium"/>
                <a:cs typeface="Montserrat Medium"/>
              </a:rPr>
              <a:t>them) 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Then</a:t>
            </a:r>
            <a:r>
              <a:rPr dirty="0" sz="1300" spc="-45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they</a:t>
            </a:r>
            <a:r>
              <a:rPr dirty="0" sz="1300" spc="-40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steal</a:t>
            </a:r>
            <a:r>
              <a:rPr dirty="0" sz="1300" spc="-40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Montserrat Medium"/>
                <a:cs typeface="Montserrat Medium"/>
              </a:rPr>
              <a:t>information</a:t>
            </a:r>
            <a:endParaRPr sz="1300">
              <a:latin typeface="Montserrat Medium"/>
              <a:cs typeface="Montserrat Medium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817752" y="1279540"/>
            <a:ext cx="1553845" cy="47244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>
                <a:latin typeface="Montserrat ExtraBold"/>
                <a:cs typeface="Montserrat ExtraBold"/>
              </a:rPr>
              <a:t>What</a:t>
            </a:r>
            <a:r>
              <a:rPr dirty="0" spc="5">
                <a:latin typeface="Montserrat ExtraBold"/>
                <a:cs typeface="Montserrat ExtraBold"/>
              </a:rPr>
              <a:t> </a:t>
            </a:r>
            <a:r>
              <a:rPr dirty="0" spc="-25">
                <a:latin typeface="Montserrat ExtraBold"/>
                <a:cs typeface="Montserrat ExtraBold"/>
              </a:rPr>
              <a:t>is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17752" y="1488790"/>
            <a:ext cx="3014345" cy="2223770"/>
          </a:xfrm>
          <a:prstGeom prst="rect">
            <a:avLst/>
          </a:prstGeom>
        </p:spPr>
        <p:txBody>
          <a:bodyPr wrap="square" lIns="0" tIns="2457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35"/>
              </a:spcBef>
            </a:pPr>
            <a:r>
              <a:rPr dirty="0" sz="2600" spc="-10">
                <a:solidFill>
                  <a:srgbClr val="FFD000"/>
                </a:solidFill>
                <a:latin typeface="Montserrat ExtraBold"/>
                <a:cs typeface="Montserrat ExtraBold"/>
              </a:rPr>
              <a:t>Phishing?</a:t>
            </a:r>
            <a:endParaRPr sz="2600">
              <a:latin typeface="Montserrat ExtraBold"/>
              <a:cs typeface="Montserrat ExtraBold"/>
            </a:endParaRPr>
          </a:p>
          <a:p>
            <a:pPr algn="just" marL="12700" marR="5080">
              <a:lnSpc>
                <a:spcPct val="100000"/>
              </a:lnSpc>
              <a:spcBef>
                <a:spcPts val="835"/>
              </a:spcBef>
            </a:pPr>
            <a:r>
              <a:rPr dirty="0" sz="1200">
                <a:solidFill>
                  <a:srgbClr val="FFFFFF"/>
                </a:solidFill>
                <a:latin typeface="Montserrat Medium"/>
                <a:cs typeface="Montserrat Medium"/>
              </a:rPr>
              <a:t>Phishing</a:t>
            </a:r>
            <a:r>
              <a:rPr dirty="0" sz="1200" spc="125">
                <a:solidFill>
                  <a:srgbClr val="FFFFFF"/>
                </a:solidFill>
                <a:latin typeface="Montserrat Medium"/>
                <a:cs typeface="Montserrat Medium"/>
              </a:rPr>
              <a:t>  </a:t>
            </a:r>
            <a:r>
              <a:rPr dirty="0" sz="1200">
                <a:solidFill>
                  <a:srgbClr val="FFFFFF"/>
                </a:solidFill>
                <a:latin typeface="Montserrat Medium"/>
                <a:cs typeface="Montserrat Medium"/>
              </a:rPr>
              <a:t>is</a:t>
            </a:r>
            <a:r>
              <a:rPr dirty="0" sz="1200" spc="130">
                <a:solidFill>
                  <a:srgbClr val="FFFFFF"/>
                </a:solidFill>
                <a:latin typeface="Montserrat Medium"/>
                <a:cs typeface="Montserrat Medium"/>
              </a:rPr>
              <a:t>  </a:t>
            </a:r>
            <a:r>
              <a:rPr dirty="0" sz="1200">
                <a:solidFill>
                  <a:srgbClr val="FFFFFF"/>
                </a:solidFill>
                <a:latin typeface="Montserrat Medium"/>
                <a:cs typeface="Montserrat Medium"/>
              </a:rPr>
              <a:t>a</a:t>
            </a:r>
            <a:r>
              <a:rPr dirty="0" sz="1200" spc="130">
                <a:solidFill>
                  <a:srgbClr val="FFFFFF"/>
                </a:solidFill>
                <a:latin typeface="Montserrat Medium"/>
                <a:cs typeface="Montserrat Medium"/>
              </a:rPr>
              <a:t>  </a:t>
            </a:r>
            <a:r>
              <a:rPr dirty="0" sz="1200">
                <a:solidFill>
                  <a:srgbClr val="FFFFFF"/>
                </a:solidFill>
                <a:latin typeface="Montserrat Medium"/>
                <a:cs typeface="Montserrat Medium"/>
              </a:rPr>
              <a:t>type</a:t>
            </a:r>
            <a:r>
              <a:rPr dirty="0" sz="1200" spc="130">
                <a:solidFill>
                  <a:srgbClr val="FFFFFF"/>
                </a:solidFill>
                <a:latin typeface="Montserrat Medium"/>
                <a:cs typeface="Montserrat Medium"/>
              </a:rPr>
              <a:t>  </a:t>
            </a:r>
            <a:r>
              <a:rPr dirty="0" sz="1200">
                <a:solidFill>
                  <a:srgbClr val="FFFFFF"/>
                </a:solidFill>
                <a:latin typeface="Montserrat Medium"/>
                <a:cs typeface="Montserrat Medium"/>
              </a:rPr>
              <a:t>of</a:t>
            </a:r>
            <a:r>
              <a:rPr dirty="0" sz="1200" spc="130">
                <a:solidFill>
                  <a:srgbClr val="FFFFFF"/>
                </a:solidFill>
                <a:latin typeface="Montserrat Medium"/>
                <a:cs typeface="Montserrat Medium"/>
              </a:rPr>
              <a:t>  </a:t>
            </a:r>
            <a:r>
              <a:rPr dirty="0" sz="1200">
                <a:solidFill>
                  <a:srgbClr val="FFFFFF"/>
                </a:solidFill>
                <a:latin typeface="Montserrat Medium"/>
                <a:cs typeface="Montserrat Medium"/>
              </a:rPr>
              <a:t>online</a:t>
            </a:r>
            <a:r>
              <a:rPr dirty="0" sz="1200" spc="125">
                <a:solidFill>
                  <a:srgbClr val="FFFFFF"/>
                </a:solidFill>
                <a:latin typeface="Montserrat Medium"/>
                <a:cs typeface="Montserrat Medium"/>
              </a:rPr>
              <a:t>  </a:t>
            </a:r>
            <a:r>
              <a:rPr dirty="0" sz="1200" spc="-20">
                <a:solidFill>
                  <a:srgbClr val="FFFFFF"/>
                </a:solidFill>
                <a:latin typeface="Montserrat Medium"/>
                <a:cs typeface="Montserrat Medium"/>
              </a:rPr>
              <a:t>scam </a:t>
            </a:r>
            <a:r>
              <a:rPr dirty="0" sz="1200">
                <a:solidFill>
                  <a:srgbClr val="FFFFFF"/>
                </a:solidFill>
                <a:latin typeface="Montserrat Medium"/>
                <a:cs typeface="Montserrat Medium"/>
              </a:rPr>
              <a:t>where</a:t>
            </a:r>
            <a:r>
              <a:rPr dirty="0" sz="1200" spc="105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200">
                <a:solidFill>
                  <a:srgbClr val="FFFFFF"/>
                </a:solidFill>
                <a:latin typeface="Montserrat Medium"/>
                <a:cs typeface="Montserrat Medium"/>
              </a:rPr>
              <a:t>someone</a:t>
            </a:r>
            <a:r>
              <a:rPr dirty="0" sz="1200" spc="105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200">
                <a:solidFill>
                  <a:srgbClr val="FFFFFF"/>
                </a:solidFill>
                <a:latin typeface="Montserrat Medium"/>
                <a:cs typeface="Montserrat Medium"/>
              </a:rPr>
              <a:t>tries</a:t>
            </a:r>
            <a:r>
              <a:rPr dirty="0" sz="1200" spc="110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200">
                <a:solidFill>
                  <a:srgbClr val="FFFFFF"/>
                </a:solidFill>
                <a:latin typeface="Montserrat Medium"/>
                <a:cs typeface="Montserrat Medium"/>
              </a:rPr>
              <a:t>to</a:t>
            </a:r>
            <a:r>
              <a:rPr dirty="0" sz="1200" spc="105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200">
                <a:solidFill>
                  <a:srgbClr val="FFFFFF"/>
                </a:solidFill>
                <a:latin typeface="Montserrat Medium"/>
                <a:cs typeface="Montserrat Medium"/>
              </a:rPr>
              <a:t>trick</a:t>
            </a:r>
            <a:r>
              <a:rPr dirty="0" sz="1200" spc="110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200">
                <a:solidFill>
                  <a:srgbClr val="FFFFFF"/>
                </a:solidFill>
                <a:latin typeface="Montserrat Medium"/>
                <a:cs typeface="Montserrat Medium"/>
              </a:rPr>
              <a:t>you</a:t>
            </a:r>
            <a:r>
              <a:rPr dirty="0" sz="1200" spc="105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200" spc="-20">
                <a:solidFill>
                  <a:srgbClr val="FFFFFF"/>
                </a:solidFill>
                <a:latin typeface="Montserrat Medium"/>
                <a:cs typeface="Montserrat Medium"/>
              </a:rPr>
              <a:t>into </a:t>
            </a:r>
            <a:r>
              <a:rPr dirty="0" sz="1200">
                <a:solidFill>
                  <a:srgbClr val="FFFFFF"/>
                </a:solidFill>
                <a:latin typeface="Montserrat Medium"/>
                <a:cs typeface="Montserrat Medium"/>
              </a:rPr>
              <a:t>giving</a:t>
            </a:r>
            <a:r>
              <a:rPr dirty="0" sz="1200" spc="-15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200">
                <a:solidFill>
                  <a:srgbClr val="FFFFFF"/>
                </a:solidFill>
                <a:latin typeface="Montserrat Medium"/>
                <a:cs typeface="Montserrat Medium"/>
              </a:rPr>
              <a:t>away</a:t>
            </a:r>
            <a:r>
              <a:rPr dirty="0" sz="1200" spc="-10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200">
                <a:solidFill>
                  <a:srgbClr val="FFFFFF"/>
                </a:solidFill>
                <a:latin typeface="Montserrat Medium"/>
                <a:cs typeface="Montserrat Medium"/>
              </a:rPr>
              <a:t>your</a:t>
            </a:r>
            <a:r>
              <a:rPr dirty="0" sz="1200" spc="-10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200">
                <a:solidFill>
                  <a:srgbClr val="FFFFFF"/>
                </a:solidFill>
                <a:latin typeface="Montserrat Medium"/>
                <a:cs typeface="Montserrat Medium"/>
              </a:rPr>
              <a:t>personal</a:t>
            </a:r>
            <a:r>
              <a:rPr dirty="0" sz="1200" spc="-10">
                <a:solidFill>
                  <a:srgbClr val="FFFFFF"/>
                </a:solidFill>
                <a:latin typeface="Montserrat Medium"/>
                <a:cs typeface="Montserrat Medium"/>
              </a:rPr>
              <a:t> information</a:t>
            </a:r>
            <a:endParaRPr sz="1200">
              <a:latin typeface="Montserrat Medium"/>
              <a:cs typeface="Montserrat Medium"/>
            </a:endParaRPr>
          </a:p>
          <a:p>
            <a:pPr algn="just" marL="12700" marR="5080">
              <a:lnSpc>
                <a:spcPct val="100000"/>
              </a:lnSpc>
            </a:pPr>
            <a:r>
              <a:rPr dirty="0" sz="1200" spc="-20">
                <a:solidFill>
                  <a:srgbClr val="FFFFFF"/>
                </a:solidFill>
                <a:latin typeface="Montserrat Medium"/>
                <a:cs typeface="Montserrat Medium"/>
              </a:rPr>
              <a:t>—</a:t>
            </a:r>
            <a:r>
              <a:rPr dirty="0" sz="1200">
                <a:solidFill>
                  <a:srgbClr val="FFFFFF"/>
                </a:solidFill>
                <a:latin typeface="Montserrat Medium"/>
                <a:cs typeface="Montserrat Medium"/>
              </a:rPr>
              <a:t>like</a:t>
            </a:r>
            <a:r>
              <a:rPr dirty="0" sz="1200" spc="185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200">
                <a:solidFill>
                  <a:srgbClr val="FFFFFF"/>
                </a:solidFill>
                <a:latin typeface="Montserrat Medium"/>
                <a:cs typeface="Montserrat Medium"/>
              </a:rPr>
              <a:t>your</a:t>
            </a:r>
            <a:r>
              <a:rPr dirty="0" sz="1200" spc="190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200">
                <a:solidFill>
                  <a:srgbClr val="FFFFFF"/>
                </a:solidFill>
                <a:latin typeface="Montserrat Medium"/>
                <a:cs typeface="Montserrat Medium"/>
              </a:rPr>
              <a:t>password,</a:t>
            </a:r>
            <a:r>
              <a:rPr dirty="0" sz="1200" spc="190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200">
                <a:solidFill>
                  <a:srgbClr val="FFFFFF"/>
                </a:solidFill>
                <a:latin typeface="Montserrat Medium"/>
                <a:cs typeface="Montserrat Medium"/>
              </a:rPr>
              <a:t>bank</a:t>
            </a:r>
            <a:r>
              <a:rPr dirty="0" sz="1200" spc="185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200">
                <a:solidFill>
                  <a:srgbClr val="FFFFFF"/>
                </a:solidFill>
                <a:latin typeface="Montserrat Medium"/>
                <a:cs typeface="Montserrat Medium"/>
              </a:rPr>
              <a:t>details,</a:t>
            </a:r>
            <a:r>
              <a:rPr dirty="0" sz="1200" spc="190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200" spc="-25">
                <a:solidFill>
                  <a:srgbClr val="FFFFFF"/>
                </a:solidFill>
                <a:latin typeface="Montserrat Medium"/>
                <a:cs typeface="Montserrat Medium"/>
              </a:rPr>
              <a:t>or </a:t>
            </a:r>
            <a:r>
              <a:rPr dirty="0" sz="1200" spc="-10">
                <a:solidFill>
                  <a:srgbClr val="FFFFFF"/>
                </a:solidFill>
                <a:latin typeface="Montserrat Medium"/>
                <a:cs typeface="Montserrat Medium"/>
              </a:rPr>
              <a:t>OTP—</a:t>
            </a:r>
            <a:r>
              <a:rPr dirty="0" sz="1200">
                <a:solidFill>
                  <a:srgbClr val="FFFFFF"/>
                </a:solidFill>
                <a:latin typeface="Montserrat Medium"/>
                <a:cs typeface="Montserrat Medium"/>
              </a:rPr>
              <a:t>by</a:t>
            </a:r>
            <a:r>
              <a:rPr dirty="0" sz="1200" spc="385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200">
                <a:solidFill>
                  <a:srgbClr val="FFFFFF"/>
                </a:solidFill>
                <a:latin typeface="Montserrat Medium"/>
                <a:cs typeface="Montserrat Medium"/>
              </a:rPr>
              <a:t>pretending</a:t>
            </a:r>
            <a:r>
              <a:rPr dirty="0" sz="1200" spc="390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200">
                <a:solidFill>
                  <a:srgbClr val="FFFFFF"/>
                </a:solidFill>
                <a:latin typeface="Montserrat Medium"/>
                <a:cs typeface="Montserrat Medium"/>
              </a:rPr>
              <a:t>to</a:t>
            </a:r>
            <a:r>
              <a:rPr dirty="0" sz="1200" spc="390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200">
                <a:solidFill>
                  <a:srgbClr val="FFFFFF"/>
                </a:solidFill>
                <a:latin typeface="Montserrat Medium"/>
                <a:cs typeface="Montserrat Medium"/>
              </a:rPr>
              <a:t>be</a:t>
            </a:r>
            <a:r>
              <a:rPr dirty="0" sz="1200" spc="390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Montserrat Medium"/>
                <a:cs typeface="Montserrat Medium"/>
              </a:rPr>
              <a:t>someone </a:t>
            </a:r>
            <a:r>
              <a:rPr dirty="0" sz="1200">
                <a:solidFill>
                  <a:srgbClr val="FFFFFF"/>
                </a:solidFill>
                <a:latin typeface="Montserrat Medium"/>
                <a:cs typeface="Montserrat Medium"/>
              </a:rPr>
              <a:t>you</a:t>
            </a:r>
            <a:r>
              <a:rPr dirty="0" sz="1200" spc="-45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Montserrat Medium"/>
                <a:cs typeface="Montserrat Medium"/>
              </a:rPr>
              <a:t>trust.</a:t>
            </a:r>
            <a:endParaRPr sz="1200">
              <a:latin typeface="Montserrat Medium"/>
              <a:cs typeface="Montserrat Medium"/>
            </a:endParaRPr>
          </a:p>
          <a:p>
            <a:pPr algn="just" marL="12700">
              <a:lnSpc>
                <a:spcPct val="100000"/>
              </a:lnSpc>
              <a:spcBef>
                <a:spcPts val="1440"/>
              </a:spcBef>
            </a:pPr>
            <a:r>
              <a:rPr dirty="0" sz="1200">
                <a:solidFill>
                  <a:srgbClr val="FFFFFF"/>
                </a:solidFill>
                <a:latin typeface="Montserrat Medium"/>
                <a:cs typeface="Montserrat Medium"/>
              </a:rPr>
              <a:t>Simple</a:t>
            </a:r>
            <a:r>
              <a:rPr dirty="0" sz="1200" spc="-25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200">
                <a:solidFill>
                  <a:srgbClr val="FFFFFF"/>
                </a:solidFill>
                <a:latin typeface="Montserrat Medium"/>
                <a:cs typeface="Montserrat Medium"/>
              </a:rPr>
              <a:t>Explanation</a:t>
            </a:r>
            <a:r>
              <a:rPr dirty="0" sz="1200" spc="-25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200">
                <a:solidFill>
                  <a:srgbClr val="FFFFFF"/>
                </a:solidFill>
                <a:latin typeface="Montserrat Medium"/>
                <a:cs typeface="Montserrat Medium"/>
              </a:rPr>
              <a:t>(Layman</a:t>
            </a:r>
            <a:r>
              <a:rPr dirty="0" sz="1200" spc="-25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Montserrat Medium"/>
                <a:cs typeface="Montserrat Medium"/>
              </a:rPr>
              <a:t>Style)</a:t>
            </a:r>
            <a:endParaRPr sz="1200">
              <a:latin typeface="Montserrat Medium"/>
              <a:cs typeface="Montserrat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7754" y="2222148"/>
            <a:ext cx="3243580" cy="619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A</a:t>
            </a:r>
            <a:r>
              <a:rPr dirty="0" sz="1300" spc="484">
                <a:solidFill>
                  <a:srgbClr val="FFFFFF"/>
                </a:solidFill>
                <a:latin typeface="Montserrat Medium"/>
                <a:cs typeface="Montserrat Medium"/>
              </a:rPr>
              <a:t>  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message</a:t>
            </a:r>
            <a:r>
              <a:rPr dirty="0" sz="1300" spc="490">
                <a:solidFill>
                  <a:srgbClr val="FFFFFF"/>
                </a:solidFill>
                <a:latin typeface="Montserrat Medium"/>
                <a:cs typeface="Montserrat Medium"/>
              </a:rPr>
              <a:t>  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saying:</a:t>
            </a:r>
            <a:r>
              <a:rPr dirty="0" sz="1300" spc="484">
                <a:solidFill>
                  <a:srgbClr val="FFFFFF"/>
                </a:solidFill>
                <a:latin typeface="Montserrat Medium"/>
                <a:cs typeface="Montserrat Medium"/>
              </a:rPr>
              <a:t>  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“</a:t>
            </a:r>
            <a:r>
              <a:rPr dirty="0" sz="1300" i="1">
                <a:solidFill>
                  <a:srgbClr val="FFFFFF"/>
                </a:solidFill>
                <a:latin typeface="Montserrat Medium"/>
                <a:cs typeface="Montserrat Medium"/>
              </a:rPr>
              <a:t>Your</a:t>
            </a:r>
            <a:r>
              <a:rPr dirty="0" sz="1300" spc="490" i="1">
                <a:solidFill>
                  <a:srgbClr val="FFFFFF"/>
                </a:solidFill>
                <a:latin typeface="Montserrat Medium"/>
                <a:cs typeface="Montserrat Medium"/>
              </a:rPr>
              <a:t>  </a:t>
            </a:r>
            <a:r>
              <a:rPr dirty="0" sz="1300" spc="-20" i="1">
                <a:solidFill>
                  <a:srgbClr val="FFFFFF"/>
                </a:solidFill>
                <a:latin typeface="Montserrat Medium"/>
                <a:cs typeface="Montserrat Medium"/>
              </a:rPr>
              <a:t>bank </a:t>
            </a:r>
            <a:r>
              <a:rPr dirty="0" sz="1300" i="1">
                <a:solidFill>
                  <a:srgbClr val="FFFFFF"/>
                </a:solidFill>
                <a:latin typeface="Montserrat Medium"/>
                <a:cs typeface="Montserrat Medium"/>
              </a:rPr>
              <a:t>account</a:t>
            </a:r>
            <a:r>
              <a:rPr dirty="0" sz="1300" spc="90" i="1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300" i="1">
                <a:solidFill>
                  <a:srgbClr val="FFFFFF"/>
                </a:solidFill>
                <a:latin typeface="Montserrat Medium"/>
                <a:cs typeface="Montserrat Medium"/>
              </a:rPr>
              <a:t>will</a:t>
            </a:r>
            <a:r>
              <a:rPr dirty="0" sz="1300" spc="95" i="1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300" i="1">
                <a:solidFill>
                  <a:srgbClr val="FFFFFF"/>
                </a:solidFill>
                <a:latin typeface="Montserrat Medium"/>
                <a:cs typeface="Montserrat Medium"/>
              </a:rPr>
              <a:t>be</a:t>
            </a:r>
            <a:r>
              <a:rPr dirty="0" sz="1300" spc="95" i="1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300" i="1">
                <a:solidFill>
                  <a:srgbClr val="FFFFFF"/>
                </a:solidFill>
                <a:latin typeface="Montserrat Medium"/>
                <a:cs typeface="Montserrat Medium"/>
              </a:rPr>
              <a:t>blocked.</a:t>
            </a:r>
            <a:r>
              <a:rPr dirty="0" sz="1300" spc="90" i="1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300" i="1">
                <a:solidFill>
                  <a:srgbClr val="FFFFFF"/>
                </a:solidFill>
                <a:latin typeface="Montserrat Medium"/>
                <a:cs typeface="Montserrat Medium"/>
              </a:rPr>
              <a:t>Click</a:t>
            </a:r>
            <a:r>
              <a:rPr dirty="0" sz="1300" spc="95" i="1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300" i="1">
                <a:solidFill>
                  <a:srgbClr val="FFFFFF"/>
                </a:solidFill>
                <a:latin typeface="Montserrat Medium"/>
                <a:cs typeface="Montserrat Medium"/>
              </a:rPr>
              <a:t>here</a:t>
            </a:r>
            <a:r>
              <a:rPr dirty="0" sz="1300" spc="95" i="1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300" spc="-25" i="1">
                <a:solidFill>
                  <a:srgbClr val="FFFFFF"/>
                </a:solidFill>
                <a:latin typeface="Montserrat Medium"/>
                <a:cs typeface="Montserrat Medium"/>
              </a:rPr>
              <a:t>to </a:t>
            </a:r>
            <a:r>
              <a:rPr dirty="0" sz="1300" i="1">
                <a:solidFill>
                  <a:srgbClr val="FFFFFF"/>
                </a:solidFill>
                <a:latin typeface="Montserrat Medium"/>
                <a:cs typeface="Montserrat Medium"/>
              </a:rPr>
              <a:t>verify</a:t>
            </a:r>
            <a:r>
              <a:rPr dirty="0" sz="1300" spc="-45" i="1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300" spc="-10" i="1">
                <a:solidFill>
                  <a:srgbClr val="FFFFFF"/>
                </a:solidFill>
                <a:latin typeface="Montserrat Medium"/>
                <a:cs typeface="Montserrat Medium"/>
              </a:rPr>
              <a:t>now.”</a:t>
            </a:r>
            <a:endParaRPr sz="1300">
              <a:latin typeface="Montserrat Medium"/>
              <a:cs typeface="Montserrat Medium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17754" y="3014628"/>
            <a:ext cx="3243580" cy="1610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377825" algn="l"/>
                <a:tab pos="976630" algn="l"/>
                <a:tab pos="1456690" algn="l"/>
                <a:tab pos="2025650" algn="l"/>
                <a:tab pos="2449195" algn="l"/>
                <a:tab pos="2813050" algn="l"/>
              </a:tabLst>
            </a:pPr>
            <a:r>
              <a:rPr dirty="0" sz="1300" spc="-25">
                <a:solidFill>
                  <a:srgbClr val="FFFFFF"/>
                </a:solidFill>
                <a:latin typeface="Montserrat Medium"/>
                <a:cs typeface="Montserrat Medium"/>
              </a:rPr>
              <a:t>An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	</a:t>
            </a:r>
            <a:r>
              <a:rPr dirty="0" sz="1300" spc="-10">
                <a:solidFill>
                  <a:srgbClr val="FFFFFF"/>
                </a:solidFill>
                <a:latin typeface="Montserrat Medium"/>
                <a:cs typeface="Montserrat Medium"/>
              </a:rPr>
              <a:t>email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	</a:t>
            </a:r>
            <a:r>
              <a:rPr dirty="0" sz="1300" spc="-20">
                <a:solidFill>
                  <a:srgbClr val="FFFFFF"/>
                </a:solidFill>
                <a:latin typeface="Montserrat Medium"/>
                <a:cs typeface="Montserrat Medium"/>
              </a:rPr>
              <a:t>that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	</a:t>
            </a:r>
            <a:r>
              <a:rPr dirty="0" sz="1300" spc="-20">
                <a:solidFill>
                  <a:srgbClr val="FFFFFF"/>
                </a:solidFill>
                <a:latin typeface="Montserrat Medium"/>
                <a:cs typeface="Montserrat Medium"/>
              </a:rPr>
              <a:t>looks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	</a:t>
            </a:r>
            <a:r>
              <a:rPr dirty="0" sz="1300" spc="-20">
                <a:solidFill>
                  <a:srgbClr val="FFFFFF"/>
                </a:solidFill>
                <a:latin typeface="Montserrat Medium"/>
                <a:cs typeface="Montserrat Medium"/>
              </a:rPr>
              <a:t>like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	</a:t>
            </a:r>
            <a:r>
              <a:rPr dirty="0" sz="1300" spc="-20">
                <a:solidFill>
                  <a:srgbClr val="FFFFFF"/>
                </a:solidFill>
                <a:latin typeface="Montserrat Medium"/>
                <a:cs typeface="Montserrat Medium"/>
              </a:rPr>
              <a:t>it’s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	</a:t>
            </a:r>
            <a:r>
              <a:rPr dirty="0" sz="1300" spc="-20">
                <a:solidFill>
                  <a:srgbClr val="FFFFFF"/>
                </a:solidFill>
                <a:latin typeface="Montserrat Medium"/>
                <a:cs typeface="Montserrat Medium"/>
              </a:rPr>
              <a:t>from 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PayPal</a:t>
            </a:r>
            <a:r>
              <a:rPr dirty="0" sz="1300" spc="-25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or</a:t>
            </a:r>
            <a:r>
              <a:rPr dirty="0" sz="1300" spc="-25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GTBank</a:t>
            </a:r>
            <a:r>
              <a:rPr dirty="0" sz="1300" spc="-25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asking</a:t>
            </a:r>
            <a:r>
              <a:rPr dirty="0" sz="1300" spc="-20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you</a:t>
            </a:r>
            <a:r>
              <a:rPr dirty="0" sz="1300" spc="-25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to</a:t>
            </a:r>
            <a:r>
              <a:rPr dirty="0" sz="1300" spc="-25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log</a:t>
            </a:r>
            <a:r>
              <a:rPr dirty="0" sz="1300" spc="-25">
                <a:solidFill>
                  <a:srgbClr val="FFFFFF"/>
                </a:solidFill>
                <a:latin typeface="Montserrat Medium"/>
                <a:cs typeface="Montserrat Medium"/>
              </a:rPr>
              <a:t> in</a:t>
            </a:r>
            <a:endParaRPr sz="1300">
              <a:latin typeface="Montserrat Medium"/>
              <a:cs typeface="Montserrat Medium"/>
            </a:endParaRPr>
          </a:p>
          <a:p>
            <a:pPr marL="12700" marR="5080">
              <a:lnSpc>
                <a:spcPct val="100000"/>
              </a:lnSpc>
              <a:spcBef>
                <a:spcPts val="1560"/>
              </a:spcBef>
            </a:pP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A</a:t>
            </a:r>
            <a:r>
              <a:rPr dirty="0" sz="1300" spc="165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fake</a:t>
            </a:r>
            <a:r>
              <a:rPr dirty="0" sz="1300" spc="165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website</a:t>
            </a:r>
            <a:r>
              <a:rPr dirty="0" sz="1300" spc="165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that</a:t>
            </a:r>
            <a:r>
              <a:rPr dirty="0" sz="1300" spc="165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looks</a:t>
            </a:r>
            <a:r>
              <a:rPr dirty="0" sz="1300" spc="165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exactly</a:t>
            </a:r>
            <a:r>
              <a:rPr dirty="0" sz="1300" spc="165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300" spc="-20">
                <a:solidFill>
                  <a:srgbClr val="FFFFFF"/>
                </a:solidFill>
                <a:latin typeface="Montserrat Medium"/>
                <a:cs typeface="Montserrat Medium"/>
              </a:rPr>
              <a:t>like 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your</a:t>
            </a:r>
            <a:r>
              <a:rPr dirty="0" sz="1300" spc="-50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bank’s</a:t>
            </a:r>
            <a:r>
              <a:rPr dirty="0" sz="1300" spc="-45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Montserrat Medium"/>
                <a:cs typeface="Montserrat Medium"/>
              </a:rPr>
              <a:t>website</a:t>
            </a:r>
            <a:endParaRPr sz="1300">
              <a:latin typeface="Montserrat Medium"/>
              <a:cs typeface="Montserrat Medium"/>
            </a:endParaRPr>
          </a:p>
          <a:p>
            <a:pPr marL="12700" marR="5080">
              <a:lnSpc>
                <a:spcPct val="100000"/>
              </a:lnSpc>
              <a:spcBef>
                <a:spcPts val="1560"/>
              </a:spcBef>
            </a:pP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WhatsApp</a:t>
            </a:r>
            <a:r>
              <a:rPr dirty="0" sz="1300" spc="355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messages</a:t>
            </a:r>
            <a:r>
              <a:rPr dirty="0" sz="1300" spc="360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promising</a:t>
            </a:r>
            <a:r>
              <a:rPr dirty="0" sz="1300" spc="355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300" spc="-20">
                <a:solidFill>
                  <a:srgbClr val="FFFFFF"/>
                </a:solidFill>
                <a:latin typeface="Montserrat Medium"/>
                <a:cs typeface="Montserrat Medium"/>
              </a:rPr>
              <a:t>free </a:t>
            </a:r>
            <a:r>
              <a:rPr dirty="0" sz="1300" spc="-10">
                <a:solidFill>
                  <a:srgbClr val="FFFFFF"/>
                </a:solidFill>
                <a:latin typeface="Montserrat Medium"/>
                <a:cs typeface="Montserrat Medium"/>
              </a:rPr>
              <a:t>giveaways</a:t>
            </a:r>
            <a:r>
              <a:rPr dirty="0" sz="1300" spc="-20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but</a:t>
            </a:r>
            <a:r>
              <a:rPr dirty="0" sz="1300" spc="-20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asking</a:t>
            </a:r>
            <a:r>
              <a:rPr dirty="0" sz="1300" spc="-20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you</a:t>
            </a:r>
            <a:r>
              <a:rPr dirty="0" sz="1300" spc="-20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to</a:t>
            </a:r>
            <a:r>
              <a:rPr dirty="0" sz="1300" spc="-20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“log</a:t>
            </a:r>
            <a:r>
              <a:rPr dirty="0" sz="1300" spc="-20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300" spc="-25">
                <a:solidFill>
                  <a:srgbClr val="FFFFFF"/>
                </a:solidFill>
                <a:latin typeface="Montserrat Medium"/>
                <a:cs typeface="Montserrat Medium"/>
              </a:rPr>
              <a:t>in”</a:t>
            </a:r>
            <a:endParaRPr sz="1300">
              <a:latin typeface="Montserrat Medium"/>
              <a:cs typeface="Montserrat Medium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59250" y="3014628"/>
            <a:ext cx="3909695" cy="1610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solidFill>
                  <a:srgbClr val="FFFFFF"/>
                </a:solidFill>
                <a:latin typeface="Montserrat"/>
                <a:cs typeface="Montserrat"/>
              </a:rPr>
              <a:t>Signs of </a:t>
            </a:r>
            <a:r>
              <a:rPr dirty="0" sz="1300" spc="-10" b="1">
                <a:solidFill>
                  <a:srgbClr val="FFFFFF"/>
                </a:solidFill>
                <a:latin typeface="Montserrat"/>
                <a:cs typeface="Montserrat"/>
              </a:rPr>
              <a:t>Phishing</a:t>
            </a:r>
            <a:endParaRPr sz="1300">
              <a:latin typeface="Montserrat"/>
              <a:cs typeface="Montserrat"/>
            </a:endParaRPr>
          </a:p>
          <a:p>
            <a:pPr marL="12700" marR="5080">
              <a:lnSpc>
                <a:spcPct val="100000"/>
              </a:lnSpc>
              <a:tabLst>
                <a:tab pos="738505" algn="l"/>
                <a:tab pos="1711325" algn="l"/>
                <a:tab pos="2248535" algn="l"/>
                <a:tab pos="2746375" algn="l"/>
                <a:tab pos="3053715" algn="l"/>
                <a:tab pos="3522345" algn="l"/>
              </a:tabLst>
            </a:pPr>
            <a:r>
              <a:rPr dirty="0" sz="1300" spc="-10">
                <a:solidFill>
                  <a:srgbClr val="FFFFFF"/>
                </a:solidFill>
                <a:latin typeface="Montserrat Medium"/>
                <a:cs typeface="Montserrat Medium"/>
              </a:rPr>
              <a:t>Urgent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	</a:t>
            </a:r>
            <a:r>
              <a:rPr dirty="0" sz="1300" spc="-10">
                <a:solidFill>
                  <a:srgbClr val="FFFFFF"/>
                </a:solidFill>
                <a:latin typeface="Montserrat Medium"/>
                <a:cs typeface="Montserrat Medium"/>
              </a:rPr>
              <a:t>messages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	</a:t>
            </a:r>
            <a:r>
              <a:rPr dirty="0" sz="1300" spc="-20">
                <a:solidFill>
                  <a:srgbClr val="FFFFFF"/>
                </a:solidFill>
                <a:latin typeface="Montserrat Medium"/>
                <a:cs typeface="Montserrat Medium"/>
              </a:rPr>
              <a:t>(“Act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	</a:t>
            </a:r>
            <a:r>
              <a:rPr dirty="0" sz="1300" spc="-25">
                <a:solidFill>
                  <a:srgbClr val="FFFFFF"/>
                </a:solidFill>
                <a:latin typeface="Montserrat Medium"/>
                <a:cs typeface="Montserrat Medium"/>
              </a:rPr>
              <a:t>now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	</a:t>
            </a:r>
            <a:r>
              <a:rPr dirty="0" sz="1300" spc="-25">
                <a:solidFill>
                  <a:srgbClr val="FFFFFF"/>
                </a:solidFill>
                <a:latin typeface="Montserrat Medium"/>
                <a:cs typeface="Montserrat Medium"/>
              </a:rPr>
              <a:t>or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	</a:t>
            </a:r>
            <a:r>
              <a:rPr dirty="0" sz="1300" spc="-20">
                <a:solidFill>
                  <a:srgbClr val="FFFFFF"/>
                </a:solidFill>
                <a:latin typeface="Montserrat Medium"/>
                <a:cs typeface="Montserrat Medium"/>
              </a:rPr>
              <a:t>lose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	</a:t>
            </a:r>
            <a:r>
              <a:rPr dirty="0" sz="1300" spc="-20">
                <a:solidFill>
                  <a:srgbClr val="FFFFFF"/>
                </a:solidFill>
                <a:latin typeface="Montserrat Medium"/>
                <a:cs typeface="Montserrat Medium"/>
              </a:rPr>
              <a:t>your </a:t>
            </a:r>
            <a:r>
              <a:rPr dirty="0" sz="1300" spc="-10">
                <a:solidFill>
                  <a:srgbClr val="FFFFFF"/>
                </a:solidFill>
                <a:latin typeface="Montserrat Medium"/>
                <a:cs typeface="Montserrat Medium"/>
              </a:rPr>
              <a:t>account!”)</a:t>
            </a:r>
            <a:endParaRPr sz="1300">
              <a:latin typeface="Montserrat Medium"/>
              <a:cs typeface="Montserrat Medium"/>
            </a:endParaRPr>
          </a:p>
          <a:p>
            <a:pPr marL="12700" marR="5080">
              <a:lnSpc>
                <a:spcPct val="100000"/>
              </a:lnSpc>
            </a:pP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Strange</a:t>
            </a:r>
            <a:r>
              <a:rPr dirty="0" sz="1300" spc="-55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links</a:t>
            </a:r>
            <a:r>
              <a:rPr dirty="0" sz="1300" spc="-55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or</a:t>
            </a:r>
            <a:r>
              <a:rPr dirty="0" sz="1300" spc="-55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misspelled</a:t>
            </a:r>
            <a:r>
              <a:rPr dirty="0" sz="1300" spc="-55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website</a:t>
            </a:r>
            <a:r>
              <a:rPr dirty="0" sz="1300" spc="-55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Montserrat Medium"/>
                <a:cs typeface="Montserrat Medium"/>
              </a:rPr>
              <a:t>names 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Requests</a:t>
            </a:r>
            <a:r>
              <a:rPr dirty="0" sz="1300" spc="90">
                <a:solidFill>
                  <a:srgbClr val="FFFFFF"/>
                </a:solidFill>
                <a:latin typeface="Montserrat Medium"/>
                <a:cs typeface="Montserrat Medium"/>
              </a:rPr>
              <a:t>  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for</a:t>
            </a:r>
            <a:r>
              <a:rPr dirty="0" sz="1300" spc="90">
                <a:solidFill>
                  <a:srgbClr val="FFFFFF"/>
                </a:solidFill>
                <a:latin typeface="Montserrat Medium"/>
                <a:cs typeface="Montserrat Medium"/>
              </a:rPr>
              <a:t>  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sensitive</a:t>
            </a:r>
            <a:r>
              <a:rPr dirty="0" sz="1300" spc="90">
                <a:solidFill>
                  <a:srgbClr val="FFFFFF"/>
                </a:solidFill>
                <a:latin typeface="Montserrat Medium"/>
                <a:cs typeface="Montserrat Medium"/>
              </a:rPr>
              <a:t>  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info</a:t>
            </a:r>
            <a:r>
              <a:rPr dirty="0" sz="1300" spc="90">
                <a:solidFill>
                  <a:srgbClr val="FFFFFF"/>
                </a:solidFill>
                <a:latin typeface="Montserrat Medium"/>
                <a:cs typeface="Montserrat Medium"/>
              </a:rPr>
              <a:t>  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(PIN,</a:t>
            </a:r>
            <a:r>
              <a:rPr dirty="0" sz="1300" spc="90">
                <a:solidFill>
                  <a:srgbClr val="FFFFFF"/>
                </a:solidFill>
                <a:latin typeface="Montserrat Medium"/>
                <a:cs typeface="Montserrat Medium"/>
              </a:rPr>
              <a:t>  </a:t>
            </a:r>
            <a:r>
              <a:rPr dirty="0" sz="1300" spc="-10">
                <a:solidFill>
                  <a:srgbClr val="FFFFFF"/>
                </a:solidFill>
                <a:latin typeface="Montserrat Medium"/>
                <a:cs typeface="Montserrat Medium"/>
              </a:rPr>
              <a:t>password, </a:t>
            </a:r>
            <a:r>
              <a:rPr dirty="0" sz="1300" spc="-20">
                <a:solidFill>
                  <a:srgbClr val="FFFFFF"/>
                </a:solidFill>
                <a:latin typeface="Montserrat Medium"/>
                <a:cs typeface="Montserrat Medium"/>
              </a:rPr>
              <a:t>OTP)</a:t>
            </a:r>
            <a:endParaRPr sz="1300">
              <a:latin typeface="Montserrat Medium"/>
              <a:cs typeface="Montserrat Medium"/>
            </a:endParaRPr>
          </a:p>
          <a:p>
            <a:pPr marL="12700" marR="5080">
              <a:lnSpc>
                <a:spcPct val="100000"/>
              </a:lnSpc>
              <a:tabLst>
                <a:tab pos="1032510" algn="l"/>
                <a:tab pos="1649095" algn="l"/>
                <a:tab pos="2649220" algn="l"/>
                <a:tab pos="3021330" algn="l"/>
              </a:tabLst>
            </a:pPr>
            <a:r>
              <a:rPr dirty="0" sz="1300" spc="-10">
                <a:solidFill>
                  <a:srgbClr val="FFFFFF"/>
                </a:solidFill>
                <a:latin typeface="Montserrat Medium"/>
                <a:cs typeface="Montserrat Medium"/>
              </a:rPr>
              <a:t>Messages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	</a:t>
            </a:r>
            <a:r>
              <a:rPr dirty="0" sz="1300" spc="-20">
                <a:solidFill>
                  <a:srgbClr val="FFFFFF"/>
                </a:solidFill>
                <a:latin typeface="Montserrat Medium"/>
                <a:cs typeface="Montserrat Medium"/>
              </a:rPr>
              <a:t>from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	</a:t>
            </a:r>
            <a:r>
              <a:rPr dirty="0" sz="1300" spc="-10">
                <a:solidFill>
                  <a:srgbClr val="FFFFFF"/>
                </a:solidFill>
                <a:latin typeface="Montserrat Medium"/>
                <a:cs typeface="Montserrat Medium"/>
              </a:rPr>
              <a:t>unknown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	</a:t>
            </a:r>
            <a:r>
              <a:rPr dirty="0" sz="1300" spc="-25">
                <a:solidFill>
                  <a:srgbClr val="FFFFFF"/>
                </a:solidFill>
                <a:latin typeface="Montserrat Medium"/>
                <a:cs typeface="Montserrat Medium"/>
              </a:rPr>
              <a:t>or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	</a:t>
            </a:r>
            <a:r>
              <a:rPr dirty="0" sz="1300" spc="-10">
                <a:solidFill>
                  <a:srgbClr val="FFFFFF"/>
                </a:solidFill>
                <a:latin typeface="Montserrat Medium"/>
                <a:cs typeface="Montserrat Medium"/>
              </a:rPr>
              <a:t>suspicious numbers/emails</a:t>
            </a:r>
            <a:endParaRPr sz="1300">
              <a:latin typeface="Montserrat Medium"/>
              <a:cs typeface="Montserrat Medium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817752" y="1279540"/>
            <a:ext cx="1829435" cy="47244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pc="-10">
                <a:latin typeface="Montserrat ExtraBold"/>
                <a:cs typeface="Montserrat ExtraBold"/>
              </a:rPr>
              <a:t>Common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17752" y="1718452"/>
            <a:ext cx="1744980" cy="4267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600" spc="-10">
                <a:solidFill>
                  <a:srgbClr val="FFD000"/>
                </a:solidFill>
                <a:latin typeface="Montserrat ExtraBold"/>
                <a:cs typeface="Montserrat ExtraBold"/>
              </a:rPr>
              <a:t>Examples</a:t>
            </a:r>
            <a:endParaRPr sz="2600">
              <a:latin typeface="Montserrat ExtraBold"/>
              <a:cs typeface="Montserrat ExtraBold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0" y="494690"/>
            <a:ext cx="4548035" cy="239669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7754" y="2277393"/>
            <a:ext cx="3643629" cy="24028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322580">
              <a:lnSpc>
                <a:spcPct val="100000"/>
              </a:lnSpc>
              <a:spcBef>
                <a:spcPts val="100"/>
              </a:spcBef>
            </a:pP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Never</a:t>
            </a:r>
            <a:r>
              <a:rPr dirty="0" sz="1300" spc="-30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share</a:t>
            </a:r>
            <a:r>
              <a:rPr dirty="0" sz="1300" spc="-25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your</a:t>
            </a:r>
            <a:r>
              <a:rPr dirty="0" sz="1300" spc="-30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Montserrat Medium"/>
                <a:cs typeface="Montserrat Medium"/>
              </a:rPr>
              <a:t>password,</a:t>
            </a:r>
            <a:r>
              <a:rPr dirty="0" sz="1300" spc="-25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PIN,</a:t>
            </a:r>
            <a:r>
              <a:rPr dirty="0" sz="1300" spc="-30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or</a:t>
            </a:r>
            <a:r>
              <a:rPr dirty="0" sz="1300" spc="-25">
                <a:solidFill>
                  <a:srgbClr val="FFFFFF"/>
                </a:solidFill>
                <a:latin typeface="Montserrat Medium"/>
                <a:cs typeface="Montserrat Medium"/>
              </a:rPr>
              <a:t> OTP 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Don’t</a:t>
            </a:r>
            <a:r>
              <a:rPr dirty="0" sz="1300" spc="-25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click</a:t>
            </a:r>
            <a:r>
              <a:rPr dirty="0" sz="1300" spc="-20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suspicious</a:t>
            </a:r>
            <a:r>
              <a:rPr dirty="0" sz="1300" spc="-20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Montserrat Medium"/>
                <a:cs typeface="Montserrat Medium"/>
              </a:rPr>
              <a:t>links.</a:t>
            </a:r>
            <a:endParaRPr sz="1300">
              <a:latin typeface="Montserrat Medium"/>
              <a:cs typeface="Montserrat Medium"/>
            </a:endParaRPr>
          </a:p>
          <a:p>
            <a:pPr marL="12700">
              <a:lnSpc>
                <a:spcPct val="100000"/>
              </a:lnSpc>
            </a:pP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Always</a:t>
            </a:r>
            <a:r>
              <a:rPr dirty="0" sz="1300" spc="-50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check</a:t>
            </a:r>
            <a:r>
              <a:rPr dirty="0" sz="1300" spc="-50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the</a:t>
            </a:r>
            <a:r>
              <a:rPr dirty="0" sz="1300" spc="-45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real</a:t>
            </a:r>
            <a:r>
              <a:rPr dirty="0" sz="1300" spc="-50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website</a:t>
            </a:r>
            <a:r>
              <a:rPr dirty="0" sz="1300" spc="-45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300" spc="-25">
                <a:solidFill>
                  <a:srgbClr val="FFFFFF"/>
                </a:solidFill>
                <a:latin typeface="Montserrat Medium"/>
                <a:cs typeface="Montserrat Medium"/>
              </a:rPr>
              <a:t>URL</a:t>
            </a:r>
            <a:endParaRPr sz="1300">
              <a:latin typeface="Montserrat Medium"/>
              <a:cs typeface="Montserrat Medium"/>
            </a:endParaRPr>
          </a:p>
          <a:p>
            <a:pPr marL="12700" marR="5080">
              <a:lnSpc>
                <a:spcPct val="100000"/>
              </a:lnSpc>
            </a:pP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If</a:t>
            </a:r>
            <a:r>
              <a:rPr dirty="0" sz="1300" spc="480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unsure,</a:t>
            </a:r>
            <a:r>
              <a:rPr dirty="0" sz="1300" spc="480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contact</a:t>
            </a:r>
            <a:r>
              <a:rPr dirty="0" sz="1300" spc="480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the</a:t>
            </a:r>
            <a:r>
              <a:rPr dirty="0" sz="1300" spc="484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company</a:t>
            </a:r>
            <a:r>
              <a:rPr dirty="0" sz="1300" spc="480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Montserrat Medium"/>
                <a:cs typeface="Montserrat Medium"/>
              </a:rPr>
              <a:t>directly 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(not</a:t>
            </a:r>
            <a:r>
              <a:rPr dirty="0" sz="1300" spc="-25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through</a:t>
            </a:r>
            <a:r>
              <a:rPr dirty="0" sz="1300" spc="-30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the</a:t>
            </a:r>
            <a:r>
              <a:rPr dirty="0" sz="1300" spc="-25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Montserrat Medium"/>
                <a:cs typeface="Montserrat Medium"/>
              </a:rPr>
              <a:t>message).</a:t>
            </a:r>
            <a:endParaRPr sz="1300">
              <a:latin typeface="Montserrat Medium"/>
              <a:cs typeface="Montserrat Medium"/>
            </a:endParaRPr>
          </a:p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dirty="0" sz="1300" b="1">
                <a:solidFill>
                  <a:srgbClr val="FFFFFF"/>
                </a:solidFill>
                <a:latin typeface="Montserrat"/>
                <a:cs typeface="Montserrat"/>
              </a:rPr>
              <a:t>Simple</a:t>
            </a:r>
            <a:r>
              <a:rPr dirty="0" sz="1300" spc="-20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1300" b="1">
                <a:solidFill>
                  <a:srgbClr val="FFFFFF"/>
                </a:solidFill>
                <a:latin typeface="Montserrat"/>
                <a:cs typeface="Montserrat"/>
              </a:rPr>
              <a:t>Rule</a:t>
            </a:r>
            <a:r>
              <a:rPr dirty="0" sz="1300" spc="-10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1300" b="1">
                <a:solidFill>
                  <a:srgbClr val="FFFFFF"/>
                </a:solidFill>
                <a:latin typeface="Montserrat"/>
                <a:cs typeface="Montserrat"/>
              </a:rPr>
              <a:t>to</a:t>
            </a:r>
            <a:r>
              <a:rPr dirty="0" sz="1300" spc="-5" b="1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1300" spc="-10" b="1">
                <a:solidFill>
                  <a:srgbClr val="FFFFFF"/>
                </a:solidFill>
                <a:latin typeface="Montserrat"/>
                <a:cs typeface="Montserrat"/>
              </a:rPr>
              <a:t>Remember</a:t>
            </a:r>
            <a:endParaRPr sz="1300">
              <a:latin typeface="Montserrat"/>
              <a:cs typeface="Montserrat"/>
            </a:endParaRPr>
          </a:p>
          <a:p>
            <a:pPr algn="just" marL="12700" marR="5080">
              <a:lnSpc>
                <a:spcPct val="100000"/>
              </a:lnSpc>
            </a:pP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If</a:t>
            </a:r>
            <a:r>
              <a:rPr dirty="0" sz="1300" spc="30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it</a:t>
            </a:r>
            <a:r>
              <a:rPr dirty="0" sz="1300" spc="30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feels</a:t>
            </a:r>
            <a:r>
              <a:rPr dirty="0" sz="1300" spc="30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urgent</a:t>
            </a:r>
            <a:r>
              <a:rPr dirty="0" sz="1300" spc="30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and</a:t>
            </a:r>
            <a:r>
              <a:rPr dirty="0" sz="1300" spc="30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asks</a:t>
            </a:r>
            <a:r>
              <a:rPr dirty="0" sz="1300" spc="35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for</a:t>
            </a:r>
            <a:r>
              <a:rPr dirty="0" sz="1300" spc="30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your</a:t>
            </a:r>
            <a:r>
              <a:rPr dirty="0" sz="1300" spc="30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Montserrat Medium"/>
                <a:cs typeface="Montserrat Medium"/>
              </a:rPr>
              <a:t>personal 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info</a:t>
            </a:r>
            <a:r>
              <a:rPr dirty="0" sz="1300" spc="-20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—</a:t>
            </a:r>
            <a:r>
              <a:rPr dirty="0" sz="1300" spc="-20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STOP</a:t>
            </a:r>
            <a:r>
              <a:rPr dirty="0" sz="1300" spc="-20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and</a:t>
            </a:r>
            <a:r>
              <a:rPr dirty="0" sz="1300" spc="-20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Montserrat Medium"/>
                <a:cs typeface="Montserrat Medium"/>
              </a:rPr>
              <a:t>think.</a:t>
            </a:r>
            <a:endParaRPr sz="1300">
              <a:latin typeface="Montserrat Medium"/>
              <a:cs typeface="Montserrat Medium"/>
            </a:endParaRPr>
          </a:p>
          <a:p>
            <a:pPr algn="just" marL="12700" marR="5080">
              <a:lnSpc>
                <a:spcPct val="100000"/>
              </a:lnSpc>
            </a:pP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If</a:t>
            </a:r>
            <a:r>
              <a:rPr dirty="0" sz="1300" spc="200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you</a:t>
            </a:r>
            <a:r>
              <a:rPr dirty="0" sz="1300" spc="200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want,</a:t>
            </a:r>
            <a:r>
              <a:rPr dirty="0" sz="1300" spc="200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I</a:t>
            </a:r>
            <a:r>
              <a:rPr dirty="0" sz="1300" spc="200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can</a:t>
            </a:r>
            <a:r>
              <a:rPr dirty="0" sz="1300" spc="200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show</a:t>
            </a:r>
            <a:r>
              <a:rPr dirty="0" sz="1300" spc="200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you</a:t>
            </a:r>
            <a:r>
              <a:rPr dirty="0" sz="1300" spc="200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real</a:t>
            </a:r>
            <a:r>
              <a:rPr dirty="0" sz="1300" spc="200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Montserrat Medium"/>
                <a:cs typeface="Montserrat Medium"/>
              </a:rPr>
              <a:t>phishing 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examples</a:t>
            </a:r>
            <a:r>
              <a:rPr dirty="0" sz="1300" spc="25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in</a:t>
            </a:r>
            <a:r>
              <a:rPr dirty="0" sz="1300" spc="30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Nigeria</a:t>
            </a:r>
            <a:r>
              <a:rPr dirty="0" sz="1300" spc="30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and</a:t>
            </a:r>
            <a:r>
              <a:rPr dirty="0" sz="1300" spc="30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how</a:t>
            </a:r>
            <a:r>
              <a:rPr dirty="0" sz="1300" spc="30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to</a:t>
            </a:r>
            <a:r>
              <a:rPr dirty="0" sz="1300" spc="30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300">
                <a:solidFill>
                  <a:srgbClr val="FFFFFF"/>
                </a:solidFill>
                <a:latin typeface="Montserrat Medium"/>
                <a:cs typeface="Montserrat Medium"/>
              </a:rPr>
              <a:t>spot</a:t>
            </a:r>
            <a:r>
              <a:rPr dirty="0" sz="1300" spc="30">
                <a:solidFill>
                  <a:srgbClr val="FFFFFF"/>
                </a:solidFill>
                <a:latin typeface="Montserrat Medium"/>
                <a:cs typeface="Montserrat Medium"/>
              </a:rPr>
              <a:t> </a:t>
            </a:r>
            <a:r>
              <a:rPr dirty="0" sz="1300" spc="-20">
                <a:solidFill>
                  <a:srgbClr val="FFFFFF"/>
                </a:solidFill>
                <a:latin typeface="Montserrat Medium"/>
                <a:cs typeface="Montserrat Medium"/>
              </a:rPr>
              <a:t>them </a:t>
            </a:r>
            <a:r>
              <a:rPr dirty="0" sz="1300" spc="-10">
                <a:solidFill>
                  <a:srgbClr val="FFFFFF"/>
                </a:solidFill>
                <a:latin typeface="Montserrat Medium"/>
                <a:cs typeface="Montserrat Medium"/>
              </a:rPr>
              <a:t>instantly.</a:t>
            </a:r>
            <a:endParaRPr sz="1300">
              <a:latin typeface="Montserrat Medium"/>
              <a:cs typeface="Montserrat Medium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1000"/>
              </a:lnSpc>
              <a:spcBef>
                <a:spcPts val="95"/>
              </a:spcBef>
            </a:pPr>
            <a:r>
              <a:rPr dirty="0"/>
              <a:t>How</a:t>
            </a:r>
            <a:r>
              <a:rPr dirty="0" spc="-45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 spc="-10"/>
              <a:t>Protect </a:t>
            </a:r>
            <a:r>
              <a:rPr dirty="0" spc="-10">
                <a:solidFill>
                  <a:srgbClr val="FFD000"/>
                </a:solidFill>
              </a:rPr>
              <a:t>Yourself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48631" y="487807"/>
            <a:ext cx="4495368" cy="465569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2026-06-06T17:16:49Z</dcterms:created>
  <dcterms:modified xsi:type="dcterms:W3CDTF">2026-06-06T17:16:49Z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StructuredOutput v10.0.19912.1</vt:lpwstr>
  </property>
  <property fmtid="{D5CDD505-2E9C-101B-9397-08002B2CF9AE}" pid="3" name="Created">
    <vt:filetime>2026-06-06T00:00:00Z</vt:filetime>
  </property>
  <property fmtid="{D5CDD505-2E9C-101B-9397-08002B2CF9AE}" pid="4" name="CreationClient">
    <vt:lpwstr>hz-json-import</vt:lpwstr>
  </property>
  <property fmtid="{D5CDD505-2E9C-101B-9397-08002B2CF9AE}" pid="5" name="Creator">
    <vt:lpwstr>Adobe Express</vt:lpwstr>
  </property>
  <property fmtid="{D5CDD505-2E9C-101B-9397-08002B2CF9AE}" pid="6" name="LastSaved">
    <vt:filetime>2026-06-06T00:00:00Z</vt:filetime>
  </property>
  <property fmtid="{D5CDD505-2E9C-101B-9397-08002B2CF9AE}" pid="7" name="Producer">
    <vt:lpwstr>Adobe Express</vt:lpwstr>
  </property>
</Properties>
</file>